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40B"/>
    <a:srgbClr val="FF3300"/>
    <a:srgbClr val="DD833F"/>
    <a:srgbClr val="C10509"/>
    <a:srgbClr val="29374B"/>
    <a:srgbClr val="293C53"/>
    <a:srgbClr val="3736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9" d="100"/>
          <a:sy n="89" d="100"/>
        </p:scale>
        <p:origin x="240"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C410A-D272-4E4B-BFFE-A5FA44359B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788A77-00E7-49AF-99D4-6B5EDE8068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2FF590-3A48-42D6-9C55-C79802C7E2F9}"/>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5" name="Footer Placeholder 4">
            <a:extLst>
              <a:ext uri="{FF2B5EF4-FFF2-40B4-BE49-F238E27FC236}">
                <a16:creationId xmlns:a16="http://schemas.microsoft.com/office/drawing/2014/main" id="{7A9DBB09-1F4A-42B0-A672-9DC57E633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F63E2D-3D4B-43DD-AC87-FF5247EBE9D9}"/>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2517357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1CCC5-E0AC-4564-B734-53A5AEFB3C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7FA34-BF6A-4CFD-A822-91F38FD836C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8EA0E0-18AB-46FC-B8CD-19CD4531160D}"/>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5" name="Footer Placeholder 4">
            <a:extLst>
              <a:ext uri="{FF2B5EF4-FFF2-40B4-BE49-F238E27FC236}">
                <a16:creationId xmlns:a16="http://schemas.microsoft.com/office/drawing/2014/main" id="{EB74CB4C-44BC-4FA7-963E-D90EE4170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20A65-FC69-4E0A-9A05-ACFE403C8556}"/>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1611853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CA38B-8FD0-4977-95DF-5835BB6512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DF9C76-B613-47FB-841E-D776C60A61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B894BFA-5614-4EB7-946D-D87E72513CED}"/>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5" name="Footer Placeholder 4">
            <a:extLst>
              <a:ext uri="{FF2B5EF4-FFF2-40B4-BE49-F238E27FC236}">
                <a16:creationId xmlns:a16="http://schemas.microsoft.com/office/drawing/2014/main" id="{242F172B-2D58-4075-A12A-567142357F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7745DE-F8AC-40E7-9E43-ED7896B19A33}"/>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47171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D7DC4-0BAE-4D79-ABC6-69C32A970A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B81B51-980F-49E2-972E-9ABA6EEA750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DC54171-2577-4636-94FE-97F2836D3D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D9705B-0D69-4F7D-850D-C79E3F87D09F}"/>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6" name="Footer Placeholder 5">
            <a:extLst>
              <a:ext uri="{FF2B5EF4-FFF2-40B4-BE49-F238E27FC236}">
                <a16:creationId xmlns:a16="http://schemas.microsoft.com/office/drawing/2014/main" id="{A0CCB465-BA0B-45A9-8DE5-F039E515C2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E705BF-A680-4227-9B1E-E2DB1DEAC6BC}"/>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2815869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1486C-8548-49F2-8B35-79B9660D89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EA1B8F-620E-4B80-BBEE-C802066DCA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FE2D3C0-1848-4B6B-BB2E-408BBD1E046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2FEC7D-1DF3-41A1-9103-26B6CA0646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6EABD5D-C76A-4115-BF4C-79C2BD81C81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8EA67F-A874-43ED-9644-E2BE221C86B1}"/>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8" name="Footer Placeholder 7">
            <a:extLst>
              <a:ext uri="{FF2B5EF4-FFF2-40B4-BE49-F238E27FC236}">
                <a16:creationId xmlns:a16="http://schemas.microsoft.com/office/drawing/2014/main" id="{DA78DCD8-7038-4643-BEBF-DBE2F7F0CB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58DC927-FC93-4DE2-8E69-4CF8D8A5A51B}"/>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1842891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507E7-23AC-4F4C-9DAF-3FEC9D4899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93BE224-1229-4A95-9F56-3CD25092D0D8}"/>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4" name="Footer Placeholder 3">
            <a:extLst>
              <a:ext uri="{FF2B5EF4-FFF2-40B4-BE49-F238E27FC236}">
                <a16:creationId xmlns:a16="http://schemas.microsoft.com/office/drawing/2014/main" id="{EAFC3A30-39A0-46CE-BFAE-E292AD00D7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11572B-70FE-45D4-945C-D52592BF4A3F}"/>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3096976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771AE5-6E67-486B-83C9-5DF0DFC58E5D}"/>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3" name="Footer Placeholder 2">
            <a:extLst>
              <a:ext uri="{FF2B5EF4-FFF2-40B4-BE49-F238E27FC236}">
                <a16:creationId xmlns:a16="http://schemas.microsoft.com/office/drawing/2014/main" id="{1934D073-5CA7-4274-9452-565DAED9DC9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EA1715-1B67-46DD-BDD1-F0BCE7E886CE}"/>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2321151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1BB95-8BAC-49ED-9D81-BCDE293443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58BF1ED-5242-4767-A998-FF51CB33CB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5054D4-D296-4941-AAEA-078CEA9CD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91A229-A2B2-4BDD-9E04-869114C87D47}"/>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6" name="Footer Placeholder 5">
            <a:extLst>
              <a:ext uri="{FF2B5EF4-FFF2-40B4-BE49-F238E27FC236}">
                <a16:creationId xmlns:a16="http://schemas.microsoft.com/office/drawing/2014/main" id="{F1A11522-DE8D-4B44-8AB9-4740BCE285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FD0C37-2151-44B0-A7D9-9344F543570E}"/>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3631145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2C069-9FEA-4B96-A78E-8AB66CF678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4CCB71-6C2A-497A-A94D-33A911979B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E5370A-52CE-4701-8992-43015598A5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7324F12-8A0C-4634-B5C2-D0E76DA2481C}"/>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6" name="Footer Placeholder 5">
            <a:extLst>
              <a:ext uri="{FF2B5EF4-FFF2-40B4-BE49-F238E27FC236}">
                <a16:creationId xmlns:a16="http://schemas.microsoft.com/office/drawing/2014/main" id="{14FBB346-03D0-4338-8D2E-7AEAAC943E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EBE094-C8F7-4806-965A-933333BBB1E1}"/>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3700695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385D-D680-4EA2-B9B4-C8F32639B8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B56B7E-0436-4579-A409-CCEF46FC31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C0B2D5-344E-4F4C-A4B7-B33D4AC16E5E}"/>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5" name="Footer Placeholder 4">
            <a:extLst>
              <a:ext uri="{FF2B5EF4-FFF2-40B4-BE49-F238E27FC236}">
                <a16:creationId xmlns:a16="http://schemas.microsoft.com/office/drawing/2014/main" id="{C8D01F4B-1293-45C9-B138-F1D4B44585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84B86B-BC26-44F8-A328-8AB27D5D2D7D}"/>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755842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B834EE-4B94-4F2E-992E-8509C64E46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96CFD-7EBE-437A-8A77-C1CC07A34B2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49FF59-7FD1-458B-90A0-048FEB314BE3}"/>
              </a:ext>
            </a:extLst>
          </p:cNvPr>
          <p:cNvSpPr>
            <a:spLocks noGrp="1"/>
          </p:cNvSpPr>
          <p:nvPr>
            <p:ph type="dt" sz="half" idx="10"/>
          </p:nvPr>
        </p:nvSpPr>
        <p:spPr/>
        <p:txBody>
          <a:bodyPr/>
          <a:lstStyle/>
          <a:p>
            <a:fld id="{EFAF0399-5D4F-4B90-8559-67DA1BC83718}" type="datetimeFigureOut">
              <a:rPr lang="en-IN" smtClean="0"/>
              <a:t>09-10-2026</a:t>
            </a:fld>
            <a:endParaRPr lang="en-IN"/>
          </a:p>
        </p:txBody>
      </p:sp>
      <p:sp>
        <p:nvSpPr>
          <p:cNvPr id="5" name="Footer Placeholder 4">
            <a:extLst>
              <a:ext uri="{FF2B5EF4-FFF2-40B4-BE49-F238E27FC236}">
                <a16:creationId xmlns:a16="http://schemas.microsoft.com/office/drawing/2014/main" id="{B7A90F0F-7630-425D-9282-3E79630D0C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B70CF6-30F9-44F6-AE14-70BA2AD9E7C0}"/>
              </a:ext>
            </a:extLst>
          </p:cNvPr>
          <p:cNvSpPr>
            <a:spLocks noGrp="1"/>
          </p:cNvSpPr>
          <p:nvPr>
            <p:ph type="sldNum" sz="quarter" idx="12"/>
          </p:nvPr>
        </p:nvSpPr>
        <p:spPr/>
        <p:txBody>
          <a:bodyPr/>
          <a:lstStyle/>
          <a:p>
            <a:fld id="{2AED9D3A-2D85-41A3-B827-EA68A2A2B99D}" type="slidenum">
              <a:rPr lang="en-IN" smtClean="0"/>
              <a:t>‹#›</a:t>
            </a:fld>
            <a:endParaRPr lang="en-IN"/>
          </a:p>
        </p:txBody>
      </p:sp>
    </p:spTree>
    <p:extLst>
      <p:ext uri="{BB962C8B-B14F-4D97-AF65-F5344CB8AC3E}">
        <p14:creationId xmlns:p14="http://schemas.microsoft.com/office/powerpoint/2010/main" val="1299176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93EFF9-7255-4B9E-8ACC-6CFCE274B6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56BD14-2F94-4236-AC4A-4593A2D8CB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6A4B5F-B982-4BFF-B2F0-6D1034EA06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F0399-5D4F-4B90-8559-67DA1BC83718}" type="datetimeFigureOut">
              <a:rPr lang="en-IN" smtClean="0"/>
              <a:t>09-10-2026</a:t>
            </a:fld>
            <a:endParaRPr lang="en-IN"/>
          </a:p>
        </p:txBody>
      </p:sp>
      <p:sp>
        <p:nvSpPr>
          <p:cNvPr id="5" name="Footer Placeholder 4">
            <a:extLst>
              <a:ext uri="{FF2B5EF4-FFF2-40B4-BE49-F238E27FC236}">
                <a16:creationId xmlns:a16="http://schemas.microsoft.com/office/drawing/2014/main" id="{C2B8FD38-4D9D-45AB-840A-B0687AC2FC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0391DDC-8C9C-4367-8538-DEF4D7DDA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ED9D3A-2D85-41A3-B827-EA68A2A2B99D}" type="slidenum">
              <a:rPr lang="en-IN" smtClean="0"/>
              <a:t>‹#›</a:t>
            </a:fld>
            <a:endParaRPr lang="en-IN"/>
          </a:p>
        </p:txBody>
      </p:sp>
    </p:spTree>
    <p:extLst>
      <p:ext uri="{BB962C8B-B14F-4D97-AF65-F5344CB8AC3E}">
        <p14:creationId xmlns:p14="http://schemas.microsoft.com/office/powerpoint/2010/main" val="3950962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100000"/>
              </a:schemeClr>
            </a:gs>
            <a:gs pos="19000">
              <a:schemeClr val="accent6">
                <a:lumMod val="95000"/>
                <a:lumOff val="5000"/>
              </a:schemeClr>
            </a:gs>
            <a:gs pos="89000">
              <a:schemeClr val="accent6">
                <a:lumMod val="6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5DE3627E-0FCF-43B2-839C-ECE806CAF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7468347">
            <a:off x="1231981" y="3724462"/>
            <a:ext cx="10230280" cy="5763855"/>
          </a:xfrm>
          <a:prstGeom prst="rect">
            <a:avLst/>
          </a:prstGeom>
        </p:spPr>
      </p:pic>
      <p:sp>
        <p:nvSpPr>
          <p:cNvPr id="2" name="Title 1">
            <a:extLst>
              <a:ext uri="{FF2B5EF4-FFF2-40B4-BE49-F238E27FC236}">
                <a16:creationId xmlns:a16="http://schemas.microsoft.com/office/drawing/2014/main" id="{274D17AB-1DB9-4451-B6F1-1919B35ABB2F}"/>
              </a:ext>
            </a:extLst>
          </p:cNvPr>
          <p:cNvSpPr>
            <a:spLocks noGrp="1"/>
          </p:cNvSpPr>
          <p:nvPr>
            <p:ph type="ctrTitle"/>
          </p:nvPr>
        </p:nvSpPr>
        <p:spPr>
          <a:xfrm>
            <a:off x="16680" y="-28890"/>
            <a:ext cx="12192000" cy="6857999"/>
          </a:xfrm>
          <a:gradFill flip="none" rotWithShape="1">
            <a:gsLst>
              <a:gs pos="0">
                <a:schemeClr val="accent6">
                  <a:lumMod val="100000"/>
                </a:schemeClr>
              </a:gs>
              <a:gs pos="19000">
                <a:schemeClr val="accent6">
                  <a:lumMod val="95000"/>
                  <a:lumOff val="5000"/>
                </a:schemeClr>
              </a:gs>
              <a:gs pos="89000">
                <a:schemeClr val="accent6">
                  <a:lumMod val="60000"/>
                </a:schemeClr>
              </a:gs>
            </a:gsLst>
            <a:path path="circle">
              <a:fillToRect l="100000" b="100000"/>
            </a:path>
            <a:tileRect t="-100000" r="-100000"/>
          </a:gradFill>
          <a:ln>
            <a:solidFill>
              <a:schemeClr val="bg1"/>
            </a:solidFill>
          </a:ln>
        </p:spPr>
        <p:txBody>
          <a:bodyPr>
            <a:normAutofit/>
          </a:bodyPr>
          <a:lstStyle/>
          <a:p>
            <a:r>
              <a:rPr lang="en-US" dirty="0"/>
              <a:t> </a:t>
            </a:r>
            <a:endParaRPr lang="en-IN" dirty="0"/>
          </a:p>
        </p:txBody>
      </p:sp>
      <p:sp>
        <p:nvSpPr>
          <p:cNvPr id="3" name="Subtitle 2">
            <a:extLst>
              <a:ext uri="{FF2B5EF4-FFF2-40B4-BE49-F238E27FC236}">
                <a16:creationId xmlns:a16="http://schemas.microsoft.com/office/drawing/2014/main" id="{201F6CEE-3870-4DF2-94FC-14107282CBDC}"/>
              </a:ext>
            </a:extLst>
          </p:cNvPr>
          <p:cNvSpPr>
            <a:spLocks noGrp="1"/>
          </p:cNvSpPr>
          <p:nvPr>
            <p:ph type="subTitle" idx="1"/>
          </p:nvPr>
        </p:nvSpPr>
        <p:spPr>
          <a:xfrm>
            <a:off x="2605271" y="2992784"/>
            <a:ext cx="7390015" cy="6999724"/>
          </a:xfrm>
        </p:spPr>
        <p:txBody>
          <a:bodyPr>
            <a:prstTxWarp prst="textArchUp">
              <a:avLst/>
            </a:prstTxWarp>
          </a:bodyPr>
          <a:lstStyle/>
          <a:p>
            <a:r>
              <a:rPr lang="en-US" dirty="0">
                <a:solidFill>
                  <a:schemeClr val="bg1"/>
                </a:solidFill>
              </a:rPr>
              <a:t>KIWI                   BLUEBERRY                           STRAWBERRY                 ORANGE</a:t>
            </a:r>
            <a:endParaRPr lang="en-IN" dirty="0">
              <a:solidFill>
                <a:schemeClr val="bg1"/>
              </a:solidFill>
            </a:endParaRPr>
          </a:p>
        </p:txBody>
      </p:sp>
      <p:sp>
        <p:nvSpPr>
          <p:cNvPr id="4" name="Oval 3">
            <a:extLst>
              <a:ext uri="{FF2B5EF4-FFF2-40B4-BE49-F238E27FC236}">
                <a16:creationId xmlns:a16="http://schemas.microsoft.com/office/drawing/2014/main" id="{7364A261-4BAB-481A-AD50-7CE40FC77C00}"/>
              </a:ext>
            </a:extLst>
          </p:cNvPr>
          <p:cNvSpPr/>
          <p:nvPr/>
        </p:nvSpPr>
        <p:spPr>
          <a:xfrm>
            <a:off x="2911517" y="3267309"/>
            <a:ext cx="6816436" cy="685799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67B7A857-EF41-4113-BEF3-25933F33F622}"/>
              </a:ext>
            </a:extLst>
          </p:cNvPr>
          <p:cNvSpPr/>
          <p:nvPr/>
        </p:nvSpPr>
        <p:spPr>
          <a:xfrm>
            <a:off x="3331311" y="3641027"/>
            <a:ext cx="5976849" cy="6110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a:extLst>
              <a:ext uri="{FF2B5EF4-FFF2-40B4-BE49-F238E27FC236}">
                <a16:creationId xmlns:a16="http://schemas.microsoft.com/office/drawing/2014/main" id="{2DB24F4D-C199-4F7A-8CFB-45F948F13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7560551">
            <a:off x="1280112" y="3647819"/>
            <a:ext cx="10134019" cy="593556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3" name="Oval 12">
            <a:extLst>
              <a:ext uri="{FF2B5EF4-FFF2-40B4-BE49-F238E27FC236}">
                <a16:creationId xmlns:a16="http://schemas.microsoft.com/office/drawing/2014/main" id="{CB26D473-BA66-4ED7-AF8F-CA913A8F9650}"/>
              </a:ext>
            </a:extLst>
          </p:cNvPr>
          <p:cNvSpPr/>
          <p:nvPr/>
        </p:nvSpPr>
        <p:spPr>
          <a:xfrm>
            <a:off x="3138008" y="5253642"/>
            <a:ext cx="133004" cy="12469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28" name="Picture 27">
            <a:extLst>
              <a:ext uri="{FF2B5EF4-FFF2-40B4-BE49-F238E27FC236}">
                <a16:creationId xmlns:a16="http://schemas.microsoft.com/office/drawing/2014/main" id="{6D9CE1AC-6E08-4EC2-A951-F83DF93A89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2881" y="-200145"/>
            <a:ext cx="3599596" cy="245566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30" name="Picture 29">
            <a:extLst>
              <a:ext uri="{FF2B5EF4-FFF2-40B4-BE49-F238E27FC236}">
                <a16:creationId xmlns:a16="http://schemas.microsoft.com/office/drawing/2014/main" id="{4A4E66A0-8272-4F20-98C1-39D7E6F120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0326" y="-1326834"/>
            <a:ext cx="3886200" cy="54346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1" name="TextBox 30">
            <a:extLst>
              <a:ext uri="{FF2B5EF4-FFF2-40B4-BE49-F238E27FC236}">
                <a16:creationId xmlns:a16="http://schemas.microsoft.com/office/drawing/2014/main" id="{9671E20D-696C-42A1-8DCF-92FDD6A9AB1A}"/>
              </a:ext>
            </a:extLst>
          </p:cNvPr>
          <p:cNvSpPr txBox="1"/>
          <p:nvPr/>
        </p:nvSpPr>
        <p:spPr>
          <a:xfrm>
            <a:off x="5625860" y="349213"/>
            <a:ext cx="940279" cy="369332"/>
          </a:xfrm>
          <a:prstGeom prst="rect">
            <a:avLst/>
          </a:prstGeom>
          <a:noFill/>
        </p:spPr>
        <p:txBody>
          <a:bodyPr wrap="square" rtlCol="0">
            <a:spAutoFit/>
          </a:bodyPr>
          <a:lstStyle/>
          <a:p>
            <a:r>
              <a:rPr lang="en-US" b="1" dirty="0">
                <a:solidFill>
                  <a:schemeClr val="bg1"/>
                </a:solidFill>
              </a:rPr>
              <a:t>    KIWI</a:t>
            </a:r>
            <a:endParaRPr lang="en-IN" b="1" dirty="0">
              <a:solidFill>
                <a:schemeClr val="bg1"/>
              </a:solidFill>
            </a:endParaRPr>
          </a:p>
        </p:txBody>
      </p:sp>
      <p:sp>
        <p:nvSpPr>
          <p:cNvPr id="32" name="TextBox 31">
            <a:extLst>
              <a:ext uri="{FF2B5EF4-FFF2-40B4-BE49-F238E27FC236}">
                <a16:creationId xmlns:a16="http://schemas.microsoft.com/office/drawing/2014/main" id="{AC3F392B-65F5-43B4-93FC-D4625C3EF750}"/>
              </a:ext>
            </a:extLst>
          </p:cNvPr>
          <p:cNvSpPr txBox="1"/>
          <p:nvPr/>
        </p:nvSpPr>
        <p:spPr>
          <a:xfrm>
            <a:off x="3064966" y="1135564"/>
            <a:ext cx="6538823" cy="246221"/>
          </a:xfrm>
          <a:prstGeom prst="rect">
            <a:avLst/>
          </a:prstGeom>
          <a:noFill/>
        </p:spPr>
        <p:txBody>
          <a:bodyPr wrap="square" rtlCol="0">
            <a:spAutoFit/>
          </a:bodyPr>
          <a:lstStyle/>
          <a:p>
            <a:endParaRPr lang="en-IN" sz="1000" dirty="0"/>
          </a:p>
        </p:txBody>
      </p:sp>
      <p:sp>
        <p:nvSpPr>
          <p:cNvPr id="34" name="Rectangle 16">
            <a:extLst>
              <a:ext uri="{FF2B5EF4-FFF2-40B4-BE49-F238E27FC236}">
                <a16:creationId xmlns:a16="http://schemas.microsoft.com/office/drawing/2014/main" id="{A054F9B5-7451-4DFF-AF1C-ADF684EA6942}"/>
              </a:ext>
            </a:extLst>
          </p:cNvPr>
          <p:cNvSpPr>
            <a:spLocks noChangeArrowheads="1"/>
          </p:cNvSpPr>
          <p:nvPr/>
        </p:nvSpPr>
        <p:spPr bwMode="auto">
          <a:xfrm>
            <a:off x="3403043" y="1322704"/>
            <a:ext cx="59979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algn="ctr" eaLnBrk="0" fontAlgn="base" hangingPunct="0">
              <a:spcBef>
                <a:spcPct val="0"/>
              </a:spcBef>
              <a:spcAft>
                <a:spcPct val="0"/>
              </a:spcAft>
            </a:pPr>
            <a:r>
              <a:rPr lang="en-IN" sz="1400" dirty="0">
                <a:solidFill>
                  <a:schemeClr val="bg1"/>
                </a:solidFill>
              </a:rPr>
              <a:t>.Kiwifruit has a thin, fuzzy, fibrous, light brown skin that is tart but edible, and light green or golden flesh that contains rows of tiny black edible seeds. The fruit has a soft texture with a sweet, sour and unique flavour.</a:t>
            </a:r>
            <a:endParaRPr kumimoji="0" lang="en-US" altLang="en-US" sz="14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7499801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100000"/>
              </a:schemeClr>
            </a:gs>
            <a:gs pos="19000">
              <a:schemeClr val="accent6">
                <a:lumMod val="95000"/>
                <a:lumOff val="5000"/>
              </a:schemeClr>
            </a:gs>
            <a:gs pos="87000">
              <a:schemeClr val="accent6">
                <a:lumMod val="6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2D581B7-B93D-4F7F-A767-29646679C0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564812">
            <a:off x="2911517" y="3497663"/>
            <a:ext cx="6949441" cy="6110564"/>
          </a:xfrm>
          <a:prstGeom prst="rect">
            <a:avLst/>
          </a:prstGeom>
        </p:spPr>
      </p:pic>
      <p:sp>
        <p:nvSpPr>
          <p:cNvPr id="2" name="Title 1">
            <a:extLst>
              <a:ext uri="{FF2B5EF4-FFF2-40B4-BE49-F238E27FC236}">
                <a16:creationId xmlns:a16="http://schemas.microsoft.com/office/drawing/2014/main" id="{274D17AB-1DB9-4451-B6F1-1919B35ABB2F}"/>
              </a:ext>
            </a:extLst>
          </p:cNvPr>
          <p:cNvSpPr>
            <a:spLocks noGrp="1"/>
          </p:cNvSpPr>
          <p:nvPr>
            <p:ph type="ctrTitle"/>
          </p:nvPr>
        </p:nvSpPr>
        <p:spPr>
          <a:xfrm>
            <a:off x="0" y="-18888"/>
            <a:ext cx="12192000" cy="6876888"/>
          </a:xfrm>
          <a:gradFill flip="none" rotWithShape="1">
            <a:gsLst>
              <a:gs pos="0">
                <a:srgbClr val="373641">
                  <a:shade val="30000"/>
                  <a:satMod val="115000"/>
                </a:srgbClr>
              </a:gs>
              <a:gs pos="50000">
                <a:srgbClr val="373641">
                  <a:shade val="67500"/>
                  <a:satMod val="115000"/>
                </a:srgbClr>
              </a:gs>
              <a:gs pos="100000">
                <a:srgbClr val="373641">
                  <a:shade val="100000"/>
                  <a:satMod val="115000"/>
                </a:srgbClr>
              </a:gs>
            </a:gsLst>
            <a:path path="circle">
              <a:fillToRect l="100000" b="100000"/>
            </a:path>
            <a:tileRect t="-100000" r="-100000"/>
          </a:gradFill>
          <a:ln>
            <a:solidFill>
              <a:schemeClr val="bg1"/>
            </a:solidFill>
          </a:ln>
        </p:spPr>
        <p:txBody>
          <a:bodyPr>
            <a:normAutofit/>
          </a:bodyPr>
          <a:lstStyle/>
          <a:p>
            <a:r>
              <a:rPr lang="en-US" dirty="0"/>
              <a:t> </a:t>
            </a:r>
            <a:endParaRPr lang="en-IN" dirty="0"/>
          </a:p>
        </p:txBody>
      </p:sp>
      <p:pic>
        <p:nvPicPr>
          <p:cNvPr id="38" name="Picture 37">
            <a:extLst>
              <a:ext uri="{FF2B5EF4-FFF2-40B4-BE49-F238E27FC236}">
                <a16:creationId xmlns:a16="http://schemas.microsoft.com/office/drawing/2014/main" id="{5DE3627E-0FCF-43B2-839C-ECE806CAFC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628407">
            <a:off x="1216448" y="3719839"/>
            <a:ext cx="10230280" cy="5763855"/>
          </a:xfrm>
          <a:prstGeom prst="rect">
            <a:avLst/>
          </a:prstGeom>
        </p:spPr>
      </p:pic>
      <p:sp>
        <p:nvSpPr>
          <p:cNvPr id="3" name="Subtitle 2">
            <a:extLst>
              <a:ext uri="{FF2B5EF4-FFF2-40B4-BE49-F238E27FC236}">
                <a16:creationId xmlns:a16="http://schemas.microsoft.com/office/drawing/2014/main" id="{201F6CEE-3870-4DF2-94FC-14107282CBDC}"/>
              </a:ext>
            </a:extLst>
          </p:cNvPr>
          <p:cNvSpPr>
            <a:spLocks noGrp="1"/>
          </p:cNvSpPr>
          <p:nvPr>
            <p:ph type="subTitle" idx="1"/>
          </p:nvPr>
        </p:nvSpPr>
        <p:spPr>
          <a:xfrm>
            <a:off x="2624727" y="2992784"/>
            <a:ext cx="7390015" cy="6999724"/>
          </a:xfrm>
        </p:spPr>
        <p:txBody>
          <a:bodyPr>
            <a:prstTxWarp prst="textArchUp">
              <a:avLst/>
            </a:prstTxWarp>
          </a:bodyPr>
          <a:lstStyle/>
          <a:p>
            <a:r>
              <a:rPr lang="en-US" dirty="0">
                <a:solidFill>
                  <a:schemeClr val="bg1"/>
                </a:solidFill>
              </a:rPr>
              <a:t>KIWI                    BLUEBERRY                    STRAWBERRY                    ORANGE</a:t>
            </a:r>
            <a:endParaRPr lang="en-IN" dirty="0">
              <a:solidFill>
                <a:schemeClr val="bg1"/>
              </a:solidFill>
            </a:endParaRPr>
          </a:p>
        </p:txBody>
      </p:sp>
      <p:sp>
        <p:nvSpPr>
          <p:cNvPr id="4" name="Oval 3">
            <a:extLst>
              <a:ext uri="{FF2B5EF4-FFF2-40B4-BE49-F238E27FC236}">
                <a16:creationId xmlns:a16="http://schemas.microsoft.com/office/drawing/2014/main" id="{7364A261-4BAB-481A-AD50-7CE40FC77C00}"/>
              </a:ext>
            </a:extLst>
          </p:cNvPr>
          <p:cNvSpPr/>
          <p:nvPr/>
        </p:nvSpPr>
        <p:spPr>
          <a:xfrm>
            <a:off x="2911517" y="3267309"/>
            <a:ext cx="6816436" cy="685799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67B7A857-EF41-4113-BEF3-25933F33F622}"/>
              </a:ext>
            </a:extLst>
          </p:cNvPr>
          <p:cNvSpPr/>
          <p:nvPr/>
        </p:nvSpPr>
        <p:spPr>
          <a:xfrm>
            <a:off x="3331311" y="3641027"/>
            <a:ext cx="5976849" cy="6110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B26D473-BA66-4ED7-AF8F-CA913A8F9650}"/>
              </a:ext>
            </a:extLst>
          </p:cNvPr>
          <p:cNvSpPr/>
          <p:nvPr/>
        </p:nvSpPr>
        <p:spPr>
          <a:xfrm>
            <a:off x="4459839" y="3735078"/>
            <a:ext cx="133004" cy="12469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1" name="TextBox 30">
            <a:extLst>
              <a:ext uri="{FF2B5EF4-FFF2-40B4-BE49-F238E27FC236}">
                <a16:creationId xmlns:a16="http://schemas.microsoft.com/office/drawing/2014/main" id="{9671E20D-696C-42A1-8DCF-92FDD6A9AB1A}"/>
              </a:ext>
            </a:extLst>
          </p:cNvPr>
          <p:cNvSpPr txBox="1"/>
          <p:nvPr/>
        </p:nvSpPr>
        <p:spPr>
          <a:xfrm>
            <a:off x="5361810" y="535638"/>
            <a:ext cx="1468379" cy="369332"/>
          </a:xfrm>
          <a:prstGeom prst="rect">
            <a:avLst/>
          </a:prstGeom>
          <a:noFill/>
        </p:spPr>
        <p:txBody>
          <a:bodyPr wrap="square" rtlCol="0">
            <a:spAutoFit/>
          </a:bodyPr>
          <a:lstStyle/>
          <a:p>
            <a:r>
              <a:rPr lang="en-US" dirty="0">
                <a:solidFill>
                  <a:schemeClr val="bg1"/>
                </a:solidFill>
              </a:rPr>
              <a:t>BLUEBERRY</a:t>
            </a:r>
            <a:endParaRPr lang="en-IN" b="1" dirty="0">
              <a:solidFill>
                <a:schemeClr val="bg1"/>
              </a:solidFill>
            </a:endParaRPr>
          </a:p>
        </p:txBody>
      </p:sp>
      <p:sp>
        <p:nvSpPr>
          <p:cNvPr id="32" name="TextBox 31">
            <a:extLst>
              <a:ext uri="{FF2B5EF4-FFF2-40B4-BE49-F238E27FC236}">
                <a16:creationId xmlns:a16="http://schemas.microsoft.com/office/drawing/2014/main" id="{AC3F392B-65F5-43B4-93FC-D4625C3EF750}"/>
              </a:ext>
            </a:extLst>
          </p:cNvPr>
          <p:cNvSpPr txBox="1"/>
          <p:nvPr/>
        </p:nvSpPr>
        <p:spPr>
          <a:xfrm>
            <a:off x="3064966" y="1135564"/>
            <a:ext cx="6538823" cy="246221"/>
          </a:xfrm>
          <a:prstGeom prst="rect">
            <a:avLst/>
          </a:prstGeom>
          <a:noFill/>
        </p:spPr>
        <p:txBody>
          <a:bodyPr wrap="square" rtlCol="0">
            <a:spAutoFit/>
          </a:bodyPr>
          <a:lstStyle/>
          <a:p>
            <a:endParaRPr lang="en-IN" sz="1000" dirty="0"/>
          </a:p>
        </p:txBody>
      </p:sp>
      <p:sp>
        <p:nvSpPr>
          <p:cNvPr id="34" name="Rectangle 16">
            <a:extLst>
              <a:ext uri="{FF2B5EF4-FFF2-40B4-BE49-F238E27FC236}">
                <a16:creationId xmlns:a16="http://schemas.microsoft.com/office/drawing/2014/main" id="{A054F9B5-7451-4DFF-AF1C-ADF684EA6942}"/>
              </a:ext>
            </a:extLst>
          </p:cNvPr>
          <p:cNvSpPr>
            <a:spLocks noChangeArrowheads="1"/>
          </p:cNvSpPr>
          <p:nvPr/>
        </p:nvSpPr>
        <p:spPr bwMode="auto">
          <a:xfrm>
            <a:off x="2911517" y="1405542"/>
            <a:ext cx="599794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1" algn="ctr" eaLnBrk="0" fontAlgn="base" hangingPunct="0">
              <a:spcBef>
                <a:spcPct val="0"/>
              </a:spcBef>
              <a:spcAft>
                <a:spcPct val="0"/>
              </a:spcAft>
            </a:pPr>
            <a:r>
              <a:rPr lang="en-US" sz="1400" b="1" dirty="0">
                <a:solidFill>
                  <a:schemeClr val="bg1"/>
                </a:solidFill>
              </a:rPr>
              <a:t>Blueberries</a:t>
            </a:r>
            <a:r>
              <a:rPr lang="en-US" sz="1400" dirty="0">
                <a:solidFill>
                  <a:schemeClr val="bg1"/>
                </a:solidFill>
              </a:rPr>
              <a:t> are a widely distributed and widespread group of flowering plants with blue or purple berries. They are classified in the all native to North America. The highbush varieties were introduced into Europe during the 1930s</a:t>
            </a:r>
            <a:endParaRPr kumimoji="0" lang="en-US" altLang="en-US" sz="1400" b="0" i="0" strike="noStrike" cap="none" normalizeH="0" baseline="0" dirty="0">
              <a:ln>
                <a:noFill/>
              </a:ln>
              <a:solidFill>
                <a:schemeClr val="bg1"/>
              </a:solidFill>
              <a:effectLst/>
              <a:latin typeface="Arial" panose="020B0604020202020204" pitchFamily="34" charset="0"/>
            </a:endParaRPr>
          </a:p>
        </p:txBody>
      </p:sp>
      <p:pic>
        <p:nvPicPr>
          <p:cNvPr id="7" name="Picture 6">
            <a:extLst>
              <a:ext uri="{FF2B5EF4-FFF2-40B4-BE49-F238E27FC236}">
                <a16:creationId xmlns:a16="http://schemas.microsoft.com/office/drawing/2014/main" id="{E4433DBB-E58C-4A82-A00A-A9C57BFFE8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2365" y="-253023"/>
            <a:ext cx="3022059" cy="277717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1" name="Picture 10">
            <a:extLst>
              <a:ext uri="{FF2B5EF4-FFF2-40B4-BE49-F238E27FC236}">
                <a16:creationId xmlns:a16="http://schemas.microsoft.com/office/drawing/2014/main" id="{3512D8DA-B3FA-4B1A-81F4-98E78BEB94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3702" y="-158456"/>
            <a:ext cx="3685219" cy="2349903"/>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28489701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100000"/>
              </a:schemeClr>
            </a:gs>
            <a:gs pos="19000">
              <a:schemeClr val="accent6">
                <a:lumMod val="95000"/>
                <a:lumOff val="5000"/>
              </a:schemeClr>
            </a:gs>
            <a:gs pos="87000">
              <a:schemeClr val="accent6">
                <a:lumMod val="6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3D1BA49-7FAF-4BC7-860D-9F7EBC0F7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973511">
            <a:off x="1820174" y="3449062"/>
            <a:ext cx="9195758" cy="6302529"/>
          </a:xfrm>
          <a:prstGeom prst="rect">
            <a:avLst/>
          </a:prstGeom>
        </p:spPr>
      </p:pic>
      <p:sp>
        <p:nvSpPr>
          <p:cNvPr id="2" name="Title 1">
            <a:extLst>
              <a:ext uri="{FF2B5EF4-FFF2-40B4-BE49-F238E27FC236}">
                <a16:creationId xmlns:a16="http://schemas.microsoft.com/office/drawing/2014/main" id="{274D17AB-1DB9-4451-B6F1-1919B35ABB2F}"/>
              </a:ext>
            </a:extLst>
          </p:cNvPr>
          <p:cNvSpPr>
            <a:spLocks noGrp="1"/>
          </p:cNvSpPr>
          <p:nvPr>
            <p:ph type="ctrTitle"/>
          </p:nvPr>
        </p:nvSpPr>
        <p:spPr>
          <a:xfrm>
            <a:off x="0" y="-18888"/>
            <a:ext cx="12192000" cy="6876888"/>
          </a:xfrm>
          <a:gradFill flip="none" rotWithShape="1">
            <a:gsLst>
              <a:gs pos="0">
                <a:srgbClr val="C10509">
                  <a:shade val="30000"/>
                  <a:satMod val="115000"/>
                </a:srgbClr>
              </a:gs>
              <a:gs pos="50000">
                <a:srgbClr val="C10509">
                  <a:shade val="67500"/>
                  <a:satMod val="115000"/>
                </a:srgbClr>
              </a:gs>
              <a:gs pos="100000">
                <a:srgbClr val="C10509">
                  <a:shade val="100000"/>
                  <a:satMod val="115000"/>
                </a:srgbClr>
              </a:gs>
            </a:gsLst>
            <a:lin ang="0" scaled="1"/>
            <a:tileRect/>
          </a:gradFill>
          <a:ln>
            <a:solidFill>
              <a:schemeClr val="bg1"/>
            </a:solidFill>
          </a:ln>
        </p:spPr>
        <p:txBody>
          <a:bodyPr>
            <a:normAutofit/>
          </a:bodyPr>
          <a:lstStyle/>
          <a:p>
            <a:r>
              <a:rPr lang="en-US" dirty="0"/>
              <a:t> </a:t>
            </a:r>
            <a:endParaRPr lang="en-IN" dirty="0"/>
          </a:p>
        </p:txBody>
      </p:sp>
      <p:sp>
        <p:nvSpPr>
          <p:cNvPr id="3" name="Subtitle 2">
            <a:extLst>
              <a:ext uri="{FF2B5EF4-FFF2-40B4-BE49-F238E27FC236}">
                <a16:creationId xmlns:a16="http://schemas.microsoft.com/office/drawing/2014/main" id="{201F6CEE-3870-4DF2-94FC-14107282CBDC}"/>
              </a:ext>
            </a:extLst>
          </p:cNvPr>
          <p:cNvSpPr>
            <a:spLocks noGrp="1"/>
          </p:cNvSpPr>
          <p:nvPr>
            <p:ph type="subTitle" idx="1"/>
          </p:nvPr>
        </p:nvSpPr>
        <p:spPr>
          <a:xfrm>
            <a:off x="2624727" y="2992784"/>
            <a:ext cx="7390015" cy="6999724"/>
          </a:xfrm>
        </p:spPr>
        <p:txBody>
          <a:bodyPr>
            <a:prstTxWarp prst="textArchUp">
              <a:avLst/>
            </a:prstTxWarp>
          </a:bodyPr>
          <a:lstStyle/>
          <a:p>
            <a:r>
              <a:rPr lang="en-US" dirty="0">
                <a:solidFill>
                  <a:schemeClr val="bg1"/>
                </a:solidFill>
              </a:rPr>
              <a:t>KIWI                    BLUEBERRY                    STRAWBERRY                    ORANGE</a:t>
            </a:r>
            <a:endParaRPr lang="en-IN" dirty="0">
              <a:solidFill>
                <a:schemeClr val="bg1"/>
              </a:solidFill>
            </a:endParaRPr>
          </a:p>
        </p:txBody>
      </p:sp>
      <p:sp>
        <p:nvSpPr>
          <p:cNvPr id="4" name="Oval 3">
            <a:extLst>
              <a:ext uri="{FF2B5EF4-FFF2-40B4-BE49-F238E27FC236}">
                <a16:creationId xmlns:a16="http://schemas.microsoft.com/office/drawing/2014/main" id="{7364A261-4BAB-481A-AD50-7CE40FC77C00}"/>
              </a:ext>
            </a:extLst>
          </p:cNvPr>
          <p:cNvSpPr/>
          <p:nvPr/>
        </p:nvSpPr>
        <p:spPr>
          <a:xfrm>
            <a:off x="2911517" y="3267309"/>
            <a:ext cx="6816436" cy="685799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67B7A857-EF41-4113-BEF3-25933F33F622}"/>
              </a:ext>
            </a:extLst>
          </p:cNvPr>
          <p:cNvSpPr/>
          <p:nvPr/>
        </p:nvSpPr>
        <p:spPr>
          <a:xfrm>
            <a:off x="3331311" y="3641027"/>
            <a:ext cx="5976849" cy="6110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B26D473-BA66-4ED7-AF8F-CA913A8F9650}"/>
              </a:ext>
            </a:extLst>
          </p:cNvPr>
          <p:cNvSpPr/>
          <p:nvPr/>
        </p:nvSpPr>
        <p:spPr>
          <a:xfrm>
            <a:off x="7251677" y="3357210"/>
            <a:ext cx="133004" cy="12469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1" name="TextBox 30">
            <a:extLst>
              <a:ext uri="{FF2B5EF4-FFF2-40B4-BE49-F238E27FC236}">
                <a16:creationId xmlns:a16="http://schemas.microsoft.com/office/drawing/2014/main" id="{9671E20D-696C-42A1-8DCF-92FDD6A9AB1A}"/>
              </a:ext>
            </a:extLst>
          </p:cNvPr>
          <p:cNvSpPr txBox="1"/>
          <p:nvPr/>
        </p:nvSpPr>
        <p:spPr>
          <a:xfrm>
            <a:off x="5361810" y="535638"/>
            <a:ext cx="1468379" cy="369332"/>
          </a:xfrm>
          <a:prstGeom prst="rect">
            <a:avLst/>
          </a:prstGeom>
          <a:noFill/>
        </p:spPr>
        <p:txBody>
          <a:bodyPr wrap="square" rtlCol="0">
            <a:spAutoFit/>
          </a:bodyPr>
          <a:lstStyle/>
          <a:p>
            <a:r>
              <a:rPr lang="en-US" dirty="0">
                <a:solidFill>
                  <a:schemeClr val="bg1"/>
                </a:solidFill>
              </a:rPr>
              <a:t>STRAWBERRY</a:t>
            </a:r>
            <a:endParaRPr lang="en-IN" b="1" dirty="0">
              <a:solidFill>
                <a:schemeClr val="bg1"/>
              </a:solidFill>
            </a:endParaRPr>
          </a:p>
        </p:txBody>
      </p:sp>
      <p:sp>
        <p:nvSpPr>
          <p:cNvPr id="32" name="TextBox 31">
            <a:extLst>
              <a:ext uri="{FF2B5EF4-FFF2-40B4-BE49-F238E27FC236}">
                <a16:creationId xmlns:a16="http://schemas.microsoft.com/office/drawing/2014/main" id="{AC3F392B-65F5-43B4-93FC-D4625C3EF750}"/>
              </a:ext>
            </a:extLst>
          </p:cNvPr>
          <p:cNvSpPr txBox="1"/>
          <p:nvPr/>
        </p:nvSpPr>
        <p:spPr>
          <a:xfrm>
            <a:off x="3064966" y="1135564"/>
            <a:ext cx="6538823" cy="246221"/>
          </a:xfrm>
          <a:prstGeom prst="rect">
            <a:avLst/>
          </a:prstGeom>
          <a:noFill/>
        </p:spPr>
        <p:txBody>
          <a:bodyPr wrap="square" rtlCol="0">
            <a:spAutoFit/>
          </a:bodyPr>
          <a:lstStyle/>
          <a:p>
            <a:endParaRPr lang="en-IN" sz="1000" dirty="0"/>
          </a:p>
        </p:txBody>
      </p:sp>
      <p:sp>
        <p:nvSpPr>
          <p:cNvPr id="34" name="Rectangle 16">
            <a:extLst>
              <a:ext uri="{FF2B5EF4-FFF2-40B4-BE49-F238E27FC236}">
                <a16:creationId xmlns:a16="http://schemas.microsoft.com/office/drawing/2014/main" id="{A054F9B5-7451-4DFF-AF1C-ADF684EA6942}"/>
              </a:ext>
            </a:extLst>
          </p:cNvPr>
          <p:cNvSpPr>
            <a:spLocks noChangeArrowheads="1"/>
          </p:cNvSpPr>
          <p:nvPr/>
        </p:nvSpPr>
        <p:spPr bwMode="auto">
          <a:xfrm>
            <a:off x="2808637" y="1367344"/>
            <a:ext cx="599794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1" algn="ctr" eaLnBrk="0" fontAlgn="base" hangingPunct="0">
              <a:spcBef>
                <a:spcPct val="0"/>
              </a:spcBef>
              <a:spcAft>
                <a:spcPct val="0"/>
              </a:spcAft>
            </a:pPr>
            <a:r>
              <a:rPr lang="en-US" sz="1400" dirty="0">
                <a:solidFill>
                  <a:schemeClr val="bg1"/>
                </a:solidFill>
              </a:rPr>
              <a:t>The name comes from the Old English "</a:t>
            </a:r>
            <a:r>
              <a:rPr lang="en-US" sz="1400" dirty="0" err="1">
                <a:solidFill>
                  <a:schemeClr val="bg1"/>
                </a:solidFill>
              </a:rPr>
              <a:t>streoberie</a:t>
            </a:r>
            <a:r>
              <a:rPr lang="en-US" sz="1400" dirty="0">
                <a:solidFill>
                  <a:schemeClr val="bg1"/>
                </a:solidFill>
              </a:rPr>
              <a:t>," potentially referring to the straw-like runners or the scattered appearance of the achenes</a:t>
            </a:r>
            <a:endParaRPr kumimoji="0" lang="en-US" altLang="en-US" sz="1400" b="0" i="0" strike="noStrike" cap="none" normalizeH="0" baseline="0" dirty="0">
              <a:ln>
                <a:noFill/>
              </a:ln>
              <a:solidFill>
                <a:schemeClr val="bg1"/>
              </a:solidFill>
              <a:effectLst/>
              <a:latin typeface="Arial" panose="020B0604020202020204" pitchFamily="34" charset="0"/>
            </a:endParaRPr>
          </a:p>
        </p:txBody>
      </p:sp>
      <p:pic>
        <p:nvPicPr>
          <p:cNvPr id="15" name="Picture 14">
            <a:extLst>
              <a:ext uri="{FF2B5EF4-FFF2-40B4-BE49-F238E27FC236}">
                <a16:creationId xmlns:a16="http://schemas.microsoft.com/office/drawing/2014/main" id="{82D581B7-B93D-4F7F-A767-29646679C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75700">
            <a:off x="2870118" y="3547325"/>
            <a:ext cx="6949441" cy="6110564"/>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8" name="Picture 7">
            <a:extLst>
              <a:ext uri="{FF2B5EF4-FFF2-40B4-BE49-F238E27FC236}">
                <a16:creationId xmlns:a16="http://schemas.microsoft.com/office/drawing/2014/main" id="{CBF98C55-8BC7-41AD-942E-AEF4D923DF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332" y="-723920"/>
            <a:ext cx="3314700" cy="33147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14" name="Picture 13">
            <a:extLst>
              <a:ext uri="{FF2B5EF4-FFF2-40B4-BE49-F238E27FC236}">
                <a16:creationId xmlns:a16="http://schemas.microsoft.com/office/drawing/2014/main" id="{B022201A-DD4E-4AB9-BF14-31828A0C2C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642218">
            <a:off x="10093574" y="-340303"/>
            <a:ext cx="1974489" cy="30422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p14="http://schemas.microsoft.com/office/powerpoint/2010/main" val="4251554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100000"/>
              </a:schemeClr>
            </a:gs>
            <a:gs pos="19000">
              <a:schemeClr val="accent6">
                <a:lumMod val="95000"/>
                <a:lumOff val="5000"/>
              </a:schemeClr>
            </a:gs>
            <a:gs pos="87000">
              <a:schemeClr val="accent6">
                <a:lumMod val="6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D17AB-1DB9-4451-B6F1-1919B35ABB2F}"/>
              </a:ext>
            </a:extLst>
          </p:cNvPr>
          <p:cNvSpPr>
            <a:spLocks noGrp="1"/>
          </p:cNvSpPr>
          <p:nvPr>
            <p:ph type="ctrTitle"/>
          </p:nvPr>
        </p:nvSpPr>
        <p:spPr>
          <a:xfrm>
            <a:off x="0" y="0"/>
            <a:ext cx="12192000" cy="6876888"/>
          </a:xfrm>
          <a:gradFill flip="none" rotWithShape="1">
            <a:gsLst>
              <a:gs pos="0">
                <a:srgbClr val="E9740B">
                  <a:shade val="30000"/>
                  <a:satMod val="115000"/>
                </a:srgbClr>
              </a:gs>
              <a:gs pos="50000">
                <a:srgbClr val="E9740B">
                  <a:shade val="67500"/>
                  <a:satMod val="115000"/>
                </a:srgbClr>
              </a:gs>
              <a:gs pos="100000">
                <a:srgbClr val="E9740B">
                  <a:shade val="100000"/>
                  <a:satMod val="115000"/>
                </a:srgbClr>
              </a:gs>
            </a:gsLst>
            <a:lin ang="18900000" scaled="1"/>
            <a:tileRect/>
          </a:gradFill>
          <a:ln>
            <a:solidFill>
              <a:schemeClr val="bg1"/>
            </a:solidFill>
          </a:ln>
        </p:spPr>
        <p:txBody>
          <a:bodyPr>
            <a:normAutofit/>
          </a:bodyPr>
          <a:lstStyle/>
          <a:p>
            <a:r>
              <a:rPr lang="en-US" dirty="0"/>
              <a:t> </a:t>
            </a:r>
            <a:endParaRPr lang="en-IN" dirty="0"/>
          </a:p>
        </p:txBody>
      </p:sp>
      <p:sp>
        <p:nvSpPr>
          <p:cNvPr id="3" name="Subtitle 2">
            <a:extLst>
              <a:ext uri="{FF2B5EF4-FFF2-40B4-BE49-F238E27FC236}">
                <a16:creationId xmlns:a16="http://schemas.microsoft.com/office/drawing/2014/main" id="{201F6CEE-3870-4DF2-94FC-14107282CBDC}"/>
              </a:ext>
            </a:extLst>
          </p:cNvPr>
          <p:cNvSpPr>
            <a:spLocks noGrp="1"/>
          </p:cNvSpPr>
          <p:nvPr>
            <p:ph type="subTitle" idx="1"/>
          </p:nvPr>
        </p:nvSpPr>
        <p:spPr>
          <a:xfrm>
            <a:off x="2624728" y="2977060"/>
            <a:ext cx="7390015" cy="6999724"/>
          </a:xfrm>
        </p:spPr>
        <p:txBody>
          <a:bodyPr>
            <a:prstTxWarp prst="textArchUp">
              <a:avLst/>
            </a:prstTxWarp>
          </a:bodyPr>
          <a:lstStyle/>
          <a:p>
            <a:r>
              <a:rPr lang="en-US" dirty="0">
                <a:solidFill>
                  <a:schemeClr val="bg1"/>
                </a:solidFill>
              </a:rPr>
              <a:t>KIWI                    BLUEBERRY                    STRAWBERRY                    ORANGE</a:t>
            </a:r>
            <a:endParaRPr lang="en-IN" dirty="0">
              <a:solidFill>
                <a:schemeClr val="bg1"/>
              </a:solidFill>
            </a:endParaRPr>
          </a:p>
        </p:txBody>
      </p:sp>
      <p:sp>
        <p:nvSpPr>
          <p:cNvPr id="4" name="Oval 3">
            <a:extLst>
              <a:ext uri="{FF2B5EF4-FFF2-40B4-BE49-F238E27FC236}">
                <a16:creationId xmlns:a16="http://schemas.microsoft.com/office/drawing/2014/main" id="{7364A261-4BAB-481A-AD50-7CE40FC77C00}"/>
              </a:ext>
            </a:extLst>
          </p:cNvPr>
          <p:cNvSpPr/>
          <p:nvPr/>
        </p:nvSpPr>
        <p:spPr>
          <a:xfrm>
            <a:off x="2911518" y="3251585"/>
            <a:ext cx="6816436" cy="6857999"/>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67B7A857-EF41-4113-BEF3-25933F33F622}"/>
              </a:ext>
            </a:extLst>
          </p:cNvPr>
          <p:cNvSpPr/>
          <p:nvPr/>
        </p:nvSpPr>
        <p:spPr>
          <a:xfrm>
            <a:off x="3331312" y="3625303"/>
            <a:ext cx="5976849" cy="6110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CB26D473-BA66-4ED7-AF8F-CA913A8F9650}"/>
              </a:ext>
            </a:extLst>
          </p:cNvPr>
          <p:cNvSpPr/>
          <p:nvPr/>
        </p:nvSpPr>
        <p:spPr>
          <a:xfrm>
            <a:off x="9229149" y="4894016"/>
            <a:ext cx="133004" cy="12469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1" name="TextBox 30">
            <a:extLst>
              <a:ext uri="{FF2B5EF4-FFF2-40B4-BE49-F238E27FC236}">
                <a16:creationId xmlns:a16="http://schemas.microsoft.com/office/drawing/2014/main" id="{9671E20D-696C-42A1-8DCF-92FDD6A9AB1A}"/>
              </a:ext>
            </a:extLst>
          </p:cNvPr>
          <p:cNvSpPr txBox="1"/>
          <p:nvPr/>
        </p:nvSpPr>
        <p:spPr>
          <a:xfrm>
            <a:off x="5681759" y="480473"/>
            <a:ext cx="1468379" cy="369332"/>
          </a:xfrm>
          <a:prstGeom prst="rect">
            <a:avLst/>
          </a:prstGeom>
          <a:noFill/>
        </p:spPr>
        <p:txBody>
          <a:bodyPr wrap="square" rtlCol="0">
            <a:spAutoFit/>
          </a:bodyPr>
          <a:lstStyle/>
          <a:p>
            <a:r>
              <a:rPr lang="en-US" dirty="0">
                <a:solidFill>
                  <a:schemeClr val="bg1"/>
                </a:solidFill>
              </a:rPr>
              <a:t>ORANGE</a:t>
            </a:r>
            <a:endParaRPr lang="en-IN" b="1" dirty="0">
              <a:solidFill>
                <a:schemeClr val="bg1"/>
              </a:solidFill>
            </a:endParaRPr>
          </a:p>
        </p:txBody>
      </p:sp>
      <p:sp>
        <p:nvSpPr>
          <p:cNvPr id="32" name="TextBox 31">
            <a:extLst>
              <a:ext uri="{FF2B5EF4-FFF2-40B4-BE49-F238E27FC236}">
                <a16:creationId xmlns:a16="http://schemas.microsoft.com/office/drawing/2014/main" id="{AC3F392B-65F5-43B4-93FC-D4625C3EF750}"/>
              </a:ext>
            </a:extLst>
          </p:cNvPr>
          <p:cNvSpPr txBox="1"/>
          <p:nvPr/>
        </p:nvSpPr>
        <p:spPr>
          <a:xfrm>
            <a:off x="3064967" y="1119840"/>
            <a:ext cx="6538823" cy="246221"/>
          </a:xfrm>
          <a:prstGeom prst="rect">
            <a:avLst/>
          </a:prstGeom>
          <a:noFill/>
        </p:spPr>
        <p:txBody>
          <a:bodyPr wrap="square" rtlCol="0">
            <a:spAutoFit/>
          </a:bodyPr>
          <a:lstStyle/>
          <a:p>
            <a:endParaRPr lang="en-IN" sz="1000" dirty="0"/>
          </a:p>
        </p:txBody>
      </p:sp>
      <p:sp>
        <p:nvSpPr>
          <p:cNvPr id="34" name="Rectangle 16">
            <a:extLst>
              <a:ext uri="{FF2B5EF4-FFF2-40B4-BE49-F238E27FC236}">
                <a16:creationId xmlns:a16="http://schemas.microsoft.com/office/drawing/2014/main" id="{A054F9B5-7451-4DFF-AF1C-ADF684EA6942}"/>
              </a:ext>
            </a:extLst>
          </p:cNvPr>
          <p:cNvSpPr>
            <a:spLocks noChangeArrowheads="1"/>
          </p:cNvSpPr>
          <p:nvPr/>
        </p:nvSpPr>
        <p:spPr bwMode="auto">
          <a:xfrm>
            <a:off x="2808638" y="1351620"/>
            <a:ext cx="599794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1" algn="ctr" eaLnBrk="0" fontAlgn="base" hangingPunct="0">
              <a:spcBef>
                <a:spcPct val="0"/>
              </a:spcBef>
              <a:spcAft>
                <a:spcPct val="0"/>
              </a:spcAft>
            </a:pPr>
            <a:r>
              <a:rPr lang="en-US" sz="1400" dirty="0">
                <a:solidFill>
                  <a:schemeClr val="bg1"/>
                </a:solidFill>
              </a:rPr>
              <a:t>The orange is a hybrid citrus fruit (</a:t>
            </a:r>
            <a:r>
              <a:rPr lang="en-US" sz="1400" i="1" dirty="0">
                <a:solidFill>
                  <a:schemeClr val="bg1"/>
                </a:solidFill>
              </a:rPr>
              <a:t>Citrus × </a:t>
            </a:r>
            <a:r>
              <a:rPr lang="en-US" sz="1400" i="1" dirty="0" err="1">
                <a:solidFill>
                  <a:schemeClr val="bg1"/>
                </a:solidFill>
              </a:rPr>
              <a:t>sinensis</a:t>
            </a:r>
            <a:r>
              <a:rPr lang="en-US" sz="1400" dirty="0">
                <a:solidFill>
                  <a:schemeClr val="bg1"/>
                </a:solidFill>
              </a:rPr>
              <a:t>) born from a cross between the pomelo and the mandarin orange</a:t>
            </a:r>
            <a:endParaRPr kumimoji="0" lang="en-US" altLang="en-US" sz="1400" b="0" i="0" strike="noStrike" cap="none" normalizeH="0" baseline="0" dirty="0">
              <a:ln>
                <a:noFill/>
              </a:ln>
              <a:solidFill>
                <a:schemeClr val="bg1"/>
              </a:solidFill>
              <a:effectLst/>
              <a:latin typeface="Arial" panose="020B0604020202020204" pitchFamily="34" charset="0"/>
            </a:endParaRPr>
          </a:p>
        </p:txBody>
      </p:sp>
      <p:pic>
        <p:nvPicPr>
          <p:cNvPr id="19" name="Picture 18">
            <a:extLst>
              <a:ext uri="{FF2B5EF4-FFF2-40B4-BE49-F238E27FC236}">
                <a16:creationId xmlns:a16="http://schemas.microsoft.com/office/drawing/2014/main" id="{23D1BA49-7FAF-4BC7-860D-9F7EBC0F7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3627202">
            <a:off x="1818070" y="3422878"/>
            <a:ext cx="9195758" cy="6302529"/>
          </a:xfrm>
          <a:prstGeom prst="rect">
            <a:avLst/>
          </a:prstGeom>
        </p:spPr>
      </p:pic>
      <p:pic>
        <p:nvPicPr>
          <p:cNvPr id="2050" name="Picture 2">
            <a:extLst>
              <a:ext uri="{FF2B5EF4-FFF2-40B4-BE49-F238E27FC236}">
                <a16:creationId xmlns:a16="http://schemas.microsoft.com/office/drawing/2014/main" id="{B2BD5335-6A30-4B44-A8DA-454D63AFF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1336" y="-846150"/>
            <a:ext cx="3609432" cy="3609432"/>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F744A6F9-D9EA-41DF-B551-E4A691DECA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30" y="0"/>
            <a:ext cx="2315600" cy="22798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389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158</Words>
  <Application>Microsoft Office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rudrarajsuratiya@gmail.com</dc:creator>
  <cp:lastModifiedBy>rudrarajsuratiya@gmail.com</cp:lastModifiedBy>
  <cp:revision>21</cp:revision>
  <dcterms:created xsi:type="dcterms:W3CDTF">2026-10-09T05:59:10Z</dcterms:created>
  <dcterms:modified xsi:type="dcterms:W3CDTF">2026-10-09T10:30:35Z</dcterms:modified>
</cp:coreProperties>
</file>